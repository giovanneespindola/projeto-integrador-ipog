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f24d16e-cd6c-404e-f351-ba99d52a71ef}">
          <p14:sldIdLst>
            <p14:sldId id="256"/>
          </p14:sldIdLst>
        </p14:section>
        <p14:section name="Os dados" id="{55506b7e-f962-6b11-765e-ed4f1a19f263}">
          <p14:sldIdLst>
            <p14:sldId id="257"/>
            <p14:sldId id="258"/>
          </p14:sldIdLst>
        </p14:section>
        <p14:section name="Modelagem" id="{88a69900-4014-1c62-25e5-fe4d337f6c43}">
          <p14:sldIdLst>
            <p14:sldId id="259"/>
            <p14:sldId id="260"/>
            <p14:sldId id="261"/>
          </p14:sldIdLst>
        </p14:section>
        <p14:section name="Análises" id="{15413bb8-57db-6d9d-ca4f-78ba28d3bc5e}">
          <p14:sldIdLst>
            <p14:sldId id="262"/>
            <p14:sldId id="263"/>
          </p14:sldIdLst>
        </p14:section>
        <p14:section name="O que os dados mostram" id="{5d16cff6-fb97-85cb-e5cb-e0ef98534fe0}">
          <p14:sldIdLst>
            <p14:sldId id="264"/>
            <p14:sldId id="265"/>
          </p14:sldIdLst>
        </p14:section>
        <p14:section name="Comparação" id="{8c214b3c-b1d1-f8de-c649-88c1568db666}">
          <p14:sldIdLst>
            <p14:sldId id="266"/>
            <p14:sldId id="267"/>
          </p14:sldIdLst>
        </p14:section>
        <p14:section name="Decisão" id="{f5d3e37e-cc08-bff8-635d-a6a7493de208}">
          <p14:sldIdLst>
            <p14:sldId id="268"/>
            <p14:sldId id="269"/>
          </p14:sldIdLst>
        </p14:section>
        <p14:section name="Encerramento" id="{28e65b60-4418-9f2b-915e-0b24515359f3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F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F3E"/>
                </a:solidFill>
                <a:latin typeface="+mn-lt"/>
              </a:rPr>
              <a:t>Valor mensal após descontos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mensal</c:v>
                </c:pt>
              </c:strCache>
            </c:strRef>
          </c:tx>
          <c:spPr>
            <a:solidFill>
              <a:srgbClr val="336791"/>
            </a:solidFill>
            <a:ln w="38100" cap="flat">
              <a:solidFill>
                <a:srgbClr val="33679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36791"/>
              </a:solidFill>
              <a:ln w="9525" cap="flat">
                <a:solidFill>
                  <a:srgbClr val="33679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jul/96</c:v>
                  </c:pt>
                  <c:pt idx="1">
                    <c:v>ago/96</c:v>
                  </c:pt>
                  <c:pt idx="2">
                    <c:v>set/96</c:v>
                  </c:pt>
                  <c:pt idx="3">
                    <c:v>out/96</c:v>
                  </c:pt>
                  <c:pt idx="4">
                    <c:v>nov/96</c:v>
                  </c:pt>
                  <c:pt idx="5">
                    <c:v>dez/96</c:v>
                  </c:pt>
                  <c:pt idx="6">
                    <c:v>jan/97</c:v>
                  </c:pt>
                  <c:pt idx="7">
                    <c:v>fev/97</c:v>
                  </c:pt>
                  <c:pt idx="8">
                    <c:v>mar/97</c:v>
                  </c:pt>
                  <c:pt idx="9">
                    <c:v>abr/97</c:v>
                  </c:pt>
                  <c:pt idx="10">
                    <c:v>mai/97</c:v>
                  </c:pt>
                  <c:pt idx="11">
                    <c:v>jun/97</c:v>
                  </c:pt>
                  <c:pt idx="12">
                    <c:v>jul/97</c:v>
                  </c:pt>
                  <c:pt idx="13">
                    <c:v>ago/97</c:v>
                  </c:pt>
                  <c:pt idx="14">
                    <c:v>set/97</c:v>
                  </c:pt>
                  <c:pt idx="15">
                    <c:v>out/97</c:v>
                  </c:pt>
                  <c:pt idx="16">
                    <c:v>nov/97</c:v>
                  </c:pt>
                  <c:pt idx="17">
                    <c:v>dez/97</c:v>
                  </c:pt>
                  <c:pt idx="18">
                    <c:v>jan/98</c:v>
                  </c:pt>
                  <c:pt idx="19">
                    <c:v>fev/98</c:v>
                  </c:pt>
                  <c:pt idx="20">
                    <c:v>mar/98</c:v>
                  </c:pt>
                  <c:pt idx="21">
                    <c:v>abr/98</c:v>
                  </c:pt>
                  <c:pt idx="22">
                    <c:v>mai/98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27862</c:v>
                </c:pt>
                <c:pt idx="1">
                  <c:v>25485</c:v>
                </c:pt>
                <c:pt idx="2">
                  <c:v>26381</c:v>
                </c:pt>
                <c:pt idx="3">
                  <c:v>37516</c:v>
                </c:pt>
                <c:pt idx="4">
                  <c:v>45600</c:v>
                </c:pt>
                <c:pt idx="5">
                  <c:v>45240</c:v>
                </c:pt>
                <c:pt idx="6">
                  <c:v>61258</c:v>
                </c:pt>
                <c:pt idx="7">
                  <c:v>38484</c:v>
                </c:pt>
                <c:pt idx="8">
                  <c:v>38547</c:v>
                </c:pt>
                <c:pt idx="9">
                  <c:v>53033</c:v>
                </c:pt>
                <c:pt idx="10">
                  <c:v>53781</c:v>
                </c:pt>
                <c:pt idx="11">
                  <c:v>36363</c:v>
                </c:pt>
                <c:pt idx="12">
                  <c:v>51021</c:v>
                </c:pt>
                <c:pt idx="13">
                  <c:v>47288</c:v>
                </c:pt>
                <c:pt idx="14">
                  <c:v>55629</c:v>
                </c:pt>
                <c:pt idx="15">
                  <c:v>66749</c:v>
                </c:pt>
                <c:pt idx="16">
                  <c:v>43534</c:v>
                </c:pt>
                <c:pt idx="17">
                  <c:v>71398</c:v>
                </c:pt>
                <c:pt idx="18">
                  <c:v>94222</c:v>
                </c:pt>
                <c:pt idx="19">
                  <c:v>99415</c:v>
                </c:pt>
                <c:pt idx="20">
                  <c:v>104854</c:v>
                </c:pt>
                <c:pt idx="21">
                  <c:v>123799</c:v>
                </c:pt>
                <c:pt idx="22">
                  <c:v>18334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1000" b="0" i="0" u="none" strike="noStrike">
                <a:solidFill>
                  <a:srgbClr val="5B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F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F3E"/>
                </a:solidFill>
                <a:latin typeface="+mn-lt"/>
              </a:rPr>
              <a:t>Mediana de 20 execuções por consulta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PostgreSQL</c:v>
                </c:pt>
              </c:strCache>
            </c:strRef>
          </c:tx>
          <c:spPr>
            <a:solidFill>
              <a:srgbClr val="33679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01</c:v>
                  </c:pt>
                  <c:pt idx="1">
                    <c:v>02</c:v>
                  </c:pt>
                  <c:pt idx="2">
                    <c:v>03</c:v>
                  </c:pt>
                  <c:pt idx="3">
                    <c:v>04</c:v>
                  </c:pt>
                  <c:pt idx="4">
                    <c:v>05</c:v>
                  </c:pt>
                  <c:pt idx="5">
                    <c:v>06</c:v>
                  </c:pt>
                  <c:pt idx="6">
                    <c:v>07</c:v>
                  </c:pt>
                  <c:pt idx="7">
                    <c:v>08</c:v>
                  </c:pt>
                  <c:pt idx="8">
                    <c:v>09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1.01</c:v>
                </c:pt>
                <c:pt idx="1">
                  <c:v>1.39</c:v>
                </c:pt>
                <c:pt idx="2">
                  <c:v>0.5</c:v>
                </c:pt>
                <c:pt idx="3">
                  <c:v>1.34</c:v>
                </c:pt>
                <c:pt idx="4">
                  <c:v>0.22</c:v>
                </c:pt>
                <c:pt idx="5">
                  <c:v>0.43</c:v>
                </c:pt>
                <c:pt idx="6">
                  <c:v>1.16</c:v>
                </c:pt>
                <c:pt idx="7">
                  <c:v>1.38</c:v>
                </c:pt>
                <c:pt idx="8">
                  <c:v>1.39</c:v>
                </c:pt>
                <c:pt idx="9">
                  <c:v>1.59</c:v>
                </c:pt>
                <c:pt idx="10">
                  <c:v>1.5</c:v>
                </c:pt>
                <c:pt idx="11">
                  <c:v>2.87</c:v>
                </c:pt>
                <c:pt idx="12">
                  <c:v>0.37</c:v>
                </c:pt>
                <c:pt idx="13">
                  <c:v>1.44</c:v>
                </c:pt>
                <c:pt idx="14">
                  <c:v>1.26</c:v>
                </c:pt>
                <c:pt idx="15">
                  <c:v>1.48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MongoDB</c:v>
                </c:pt>
              </c:strCache>
            </c:strRef>
          </c:tx>
          <c:spPr>
            <a:solidFill>
              <a:srgbClr val="3F8F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01</c:v>
                  </c:pt>
                  <c:pt idx="1">
                    <c:v>02</c:v>
                  </c:pt>
                  <c:pt idx="2">
                    <c:v>03</c:v>
                  </c:pt>
                  <c:pt idx="3">
                    <c:v>04</c:v>
                  </c:pt>
                  <c:pt idx="4">
                    <c:v>05</c:v>
                  </c:pt>
                  <c:pt idx="5">
                    <c:v>06</c:v>
                  </c:pt>
                  <c:pt idx="6">
                    <c:v>07</c:v>
                  </c:pt>
                  <c:pt idx="7">
                    <c:v>08</c:v>
                  </c:pt>
                  <c:pt idx="8">
                    <c:v>09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2.28</c:v>
                </c:pt>
                <c:pt idx="1">
                  <c:v>2.48</c:v>
                </c:pt>
                <c:pt idx="2">
                  <c:v>2.85</c:v>
                </c:pt>
                <c:pt idx="3">
                  <c:v>3.92</c:v>
                </c:pt>
                <c:pt idx="4">
                  <c:v>0.5</c:v>
                </c:pt>
                <c:pt idx="5">
                  <c:v>6.31</c:v>
                </c:pt>
                <c:pt idx="6">
                  <c:v>2.71</c:v>
                </c:pt>
                <c:pt idx="7">
                  <c:v>2.47</c:v>
                </c:pt>
                <c:pt idx="8">
                  <c:v>2.52</c:v>
                </c:pt>
                <c:pt idx="9">
                  <c:v>6.6</c:v>
                </c:pt>
                <c:pt idx="10">
                  <c:v>6.77</c:v>
                </c:pt>
                <c:pt idx="11">
                  <c:v>8.24</c:v>
                </c:pt>
                <c:pt idx="12">
                  <c:v>2.41</c:v>
                </c:pt>
                <c:pt idx="13">
                  <c:v>3.64</c:v>
                </c:pt>
                <c:pt idx="14">
                  <c:v>5.71</c:v>
                </c:pt>
                <c:pt idx="15">
                  <c:v>4.44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E2A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[0:00–0:44] — câmera ligada só neste slide
Olá, eu sou o Giovanne. Este é o meu projeto integrador da área de Banco de Dados.
A pergunta que guiou o trabalho foi: qual é a ferramenta certa para cada trabalho com dados?
Para responder, peguei uma base de vendas e implementei a mesma solução em dois bancos bem diferentes: o PostgreSQL, relacional, e o MongoDB, orientado a documentos. Depois respondi às mesmas perguntas de negócio nos dois e comparei.
Vou contar essa história na ordem em que ela aconteceu. (desligar a câmera)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[0:44–1:27]
A base é a Northwind, uma distribuidora fictícia muito usada para ensinar banco de dados. São 830 pedidos, 2.155 itens, 91 clientes e 77 produtos, de julho de 1996 a maio de 1998, somando 1 milhão e 265 mil em vendas registradas.
Um ponto que define o projeto inteiro: a base não tem custo dos produtos, nem pagamentos, nem data de entrega. Então eu falo em valor dos pedidos, nunca em lucro. E falo em data de envio, nunca em prazo de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[1:27–2:21]
Antes de modelar, fiz uma análise exploratória. Não encontrei referências quebradas nem valores inválidos, mas quatro achados mudaram o projeto.
1996 e 1998 estão incompletos, então não comparo anos inteiros. 21 pedidos não têm data de envio, e mantive o nulo, porque ausência não é zero.
O terceiro foi decisivo: arredondar cada item antes de somar muda o total em 25 centavos. Para comparar dois bancos número a número, a regra precisa ser a mesma; então tudo é calculado com decimais exatos e arredondado só no final.
E 662 itens têm preço diferente do catálogo: o preço é da venda, então fica guardado no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[2:21–3:09]
Esta é a principal decisão de modelagem, com um pedido real, o 10248.
No PostgreSQL, criei um schema próprio com regras garantidas pelo banco: chaves estrangeiras, 17 CHECK e 4 UNIQUE. O pedido fica em duas tabelas: uma linha em orders e três em order_items.
No MongoDB, a pergunta é o que deve ficar junto. O que pertence ao pedido e é lido com ele vai para dentro dele: os itens viraram um array. Clientes e produtos existem por conta própria, então ficaram em coleções separadas.
Para dinheiro, usei numeric e Decimal128, sem ponto flutuante.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[3:09–3:55]
A arquitetura é simples e de mão única. A base original fica intocada no schema public. O schema nw é o modelo relacional e a fonte da verdade. A partir dele, uma extração em SQL gera os documentos, e o mongosh carrega no MongoDB.
Por que mão única? Porque, se os dois aceitassem alterações, o mesmo dado teria dois donos. E por que em lote? Porque nenhuma pergunta do projeto precisa de dado em tempo real. A carga pode ser repetida quantas vezes for preciso sem duplicar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[3:55–4:39]
Como saber que a migração deu certo? Contar documentos não basta, porque duas tabelas com o mesmo número de linhas podem ter preços diferentes.
Então fiz o caminho inverso: li os documentos do MongoDB, desmontei de volta em linhas e comparei campo a campo com o PostgreSQL. As 3.311 linhas voltaram sem nenhuma diferença, e o total exato deu o mesmo nos dois bancos.
Também testei os validadores do MongoDB com cinco documentos errados, como preço em texto e quantidade zero. Os cinco foram recusados.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[4:39–5:19]
Depois vieram as análises: 16 perguntas de negócio sobre vendas no tempo, produtos, clientes e equipe. Cada uma foi respondida duas vezes, em SQL e em pipeline do MongoDB. Também criei views para centralizar o cálculo do valor e três procedures com parâmetros.
Os dois bancos deram exatamente os mesmos números. Mas eles poderiam errar a mesma regra juntos, então recalculei tudo em Python e fiz testes com pedidos inventados, cujo resultado eu calculei à mão.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[5:19–6:00]
Um exemplo de sintaxe: o ranking dos cinco produtos de maior valor em cada categoria. No SQL, é a função de janela row_number, separando por categoria. No MongoDB, o equivalente é o $setWindowFields.
No geral, o documento ajudou nas perguntas sobre o pedido, porque os itens já estão lá dentro. O SQL foi mais direto quando a pergunta parte de um cadastro, como clientes sem compra. E as junções não sumiram no MongoDB: só mudaram de nome.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[6:00–6:39]
Agora, o que os dados contam. As vendas cresceram ao longo de 1997 e no começo de 1998. Abril de 1998 foi o maior mês, com 74 pedidos; em janeiro de 1997 eram 33.
E aqui está um exemplo de por que conhecer os dados importa: maio de 1998 parece uma queda de 85%. Mas não é crise. A base simplesmente termina no dia 6 de maio. Quem não soubesse disso tiraria uma conclusão errada.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[6:39–7:21]
O segundo achado é a concentração. Pela curva ABC, 34 clientes concentram 80% do valor. E um único produto, o Côte de Blaye, responde por 11% de toda a receita.
O insight de que mais gosto vem de cruzar duas análises. A curva ABC diz quem importa; a inatividade diz quem parou de comprar. A Mère Paillarde está nas duas listas: classe A e sem compras há mais de seis meses. Se eu fosse a empresa, começaria por 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[7:21–8:03]
Na performance, medi as 16 consultas em cada banco, com 5 execuções de aquecimento e 20 medições, alternando qual banco rodava primeiro, e usei a mediana.
O PostgreSQL foi mais rápido em todas, com o MongoDB de 1,8 a 15 vezes mais lento. As maiores diferenças estão nas consultas que começam por um cadastro, como clientes, porque o MongoDB faz uma busca nos pedidos para cada cliente.
Mas eu não queria parar em “o Postgres ganhou”. Fui investigar o porquê.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[8:03–8:44]
Olhando os planos de execução, achei parte da causa: faltava índice em employee_id no MongoDB. Para calcular as vendas dos 9 vendedores, ele lia os 830 pedidos para cada um: 7.470 documentos.
Testei numa cópia do banco com o índice: caiu para 830 documentos, e o tempo caiu 27%.
Mesmo assim, o PostgreSQL continuou mais rápido, porque o resto vem do modelo: uma busca por cadastro contra uma única junção no SQL. Índice não é detalhe, é manutenção contínua.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[8:44–9:35]
Então, qual escolher? Não existe vencedor geral; existe o padrão de acesso.
O PostgreSQL é a escolha para registrar e cruzar dados: regras garantidas pelo banco, muitas entidades relacionadas e perguntas novas o tempo todo.
O MongoDB faz sentido quando se lê o agregado inteiro, como uma tela com o pedido completo, ou quando os registros variam de formato.
Os dois juntos valem quando esses padrões convivem, com o custo de manter a carga e dois bancos.
Para a Northwind, o PostgreSQL sozinho atende. O MongoDB passaria a valer com, por exemplo, um portal de clientes consultando pedidos.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[9:35–10:24]
Sobre escalabilidade e manutenção, é importante deixar claro que isso é análise, não medição: 830 pedidos cabem em memória.
Para crescer, o PostgreSQL usa um servidor maior, réplicas de leitura e particionamento por data. O MongoDB cresce distribuindo os dados entre servidores, mas as junções entre servidores ficam caras, então o modelo precisa evitá-las.
Na manutenção, o custo do MongoDB está nas cópias: o nome do produto está copiado em cada item vendido, então renomear um produto vira uma atualização em muitos pedidos. Em compensação, acrescentar um campo é mais fácil, desde que validadores e consultas acompanhem.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[10:24–10:57]
Para fechar: a ferramenta certa depende do trabalho.
Os dois bancos chegaram exatamente às mesmas respostas, desde que eu fixasse antes as regras de cálculo, principalmente o arredondamento.
O documento simplifica tudo o que gira em torno do pedido; o relacional simplifica cruzar informações.
E o aprendizado de método: medir, investigar o porquê da diferença e só então concluir.
Obrigado!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Northwind  ·  PostgreSQL × MongoDB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a ferramenta certa para o trabalho?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Os dados de vendas da Northwind em PostgreSQL e MongoDB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Giovanne Espindola  ·  Projeto Integrador — Banco de Dados  ·  IPOG</a:t>
            </a:r>
            <a:endParaRPr lang="en-US" sz="2000" dirty="0"/>
          </a:p>
        </p:txBody>
      </p:sp>
      <p:sp>
        <p:nvSpPr>
          <p:cNvPr id="4" name="capa-pg-circulo"/>
          <p:cNvSpPr/>
          <p:nvPr/>
        </p:nvSpPr>
        <p:spPr>
          <a:xfrm>
            <a:off x="731520" y="82296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capa-pg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028700"/>
            <a:ext cx="411480" cy="411480"/>
          </a:xfrm>
          <a:prstGeom prst="rect">
            <a:avLst/>
          </a:prstGeom>
        </p:spPr>
      </p:pic>
      <p:sp>
        <p:nvSpPr>
          <p:cNvPr id="6" name="capa-mongo-circulo"/>
          <p:cNvSpPr/>
          <p:nvPr/>
        </p:nvSpPr>
        <p:spPr>
          <a:xfrm>
            <a:off x="1737360" y="82296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7" name="capa-mongo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10287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base: uma distribuidora de alimentos</a:t>
            </a:r>
            <a:endParaRPr lang="en-US" sz="3200" dirty="0"/>
          </a:p>
        </p:txBody>
      </p:sp>
      <p:sp>
        <p:nvSpPr>
          <p:cNvPr id="3" name="stat-0"/>
          <p:cNvSpPr/>
          <p:nvPr/>
        </p:nvSpPr>
        <p:spPr>
          <a:xfrm>
            <a:off x="548640" y="1508760"/>
            <a:ext cx="25603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pedidos</a:t>
            </a:r>
            <a:endParaRPr lang="en-US" sz="1800" dirty="0"/>
          </a:p>
        </p:txBody>
      </p:sp>
      <p:sp>
        <p:nvSpPr>
          <p:cNvPr id="6" name="stat-1"/>
          <p:cNvSpPr/>
          <p:nvPr/>
        </p:nvSpPr>
        <p:spPr>
          <a:xfrm>
            <a:off x="3337560" y="1508760"/>
            <a:ext cx="25603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2.155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itens vendidos</a:t>
            </a:r>
            <a:endParaRPr lang="en-US" sz="1800" dirty="0"/>
          </a:p>
        </p:txBody>
      </p:sp>
      <p:sp>
        <p:nvSpPr>
          <p:cNvPr id="9" name="stat-2"/>
          <p:cNvSpPr/>
          <p:nvPr/>
        </p:nvSpPr>
        <p:spPr>
          <a:xfrm>
            <a:off x="6126480" y="1508760"/>
            <a:ext cx="25603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clientes</a:t>
            </a:r>
            <a:endParaRPr lang="en-US" sz="1800" dirty="0"/>
          </a:p>
        </p:txBody>
      </p:sp>
      <p:sp>
        <p:nvSpPr>
          <p:cNvPr id="12" name="stat-3"/>
          <p:cNvSpPr/>
          <p:nvPr/>
        </p:nvSpPr>
        <p:spPr>
          <a:xfrm>
            <a:off x="8915400" y="1508760"/>
            <a:ext cx="25603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produtos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Northwind Traders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é uma empresa fictícia usada para ensinar bancos de dados: clientes fazem pedidos, cada pedido tem itens, vendedores registram as vendas e transportadoras fazem o envio.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206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Período: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julho de 1996 a maio de 1998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Valor total registrado: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1.265.793,04</a:t>
            </a:r>
            <a:endParaRPr lang="en-US" sz="1800" dirty="0"/>
          </a:p>
        </p:txBody>
      </p:sp>
      <p:sp>
        <p:nvSpPr>
          <p:cNvPr id="17" name="limites"/>
          <p:cNvSpPr/>
          <p:nvPr/>
        </p:nvSpPr>
        <p:spPr>
          <a:xfrm>
            <a:off x="7955280" y="3749040"/>
            <a:ext cx="365760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8388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 que a base não tem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43891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custo dos produtos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pagamentos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data de entrega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5532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Por isso: valor, não lucro.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modelar, olhar os dados</a:t>
            </a:r>
            <a:endParaRPr lang="en-US" sz="3200" dirty="0"/>
          </a:p>
        </p:txBody>
      </p:sp>
      <p:sp>
        <p:nvSpPr>
          <p:cNvPr id="3" name="achado-0"/>
          <p:cNvSpPr/>
          <p:nvPr/>
        </p:nvSpPr>
        <p:spPr>
          <a:xfrm>
            <a:off x="548640" y="150876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chado-0-circulo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achado-0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80136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1996 e 1998 estão incompletos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532888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base começa em julho de 1996 e termina em 6 de maio de 1998. Comparar anos inteiros daria uma falsa ideia de crescimento.</a:t>
            </a:r>
            <a:endParaRPr lang="en-US" sz="1500" dirty="0"/>
          </a:p>
        </p:txBody>
      </p:sp>
      <p:sp>
        <p:nvSpPr>
          <p:cNvPr id="8" name="achado-1"/>
          <p:cNvSpPr/>
          <p:nvPr/>
        </p:nvSpPr>
        <p:spPr>
          <a:xfrm>
            <a:off x="6217920" y="150876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chado-1-circulo"/>
          <p:cNvSpPr/>
          <p:nvPr/>
        </p:nvSpPr>
        <p:spPr>
          <a:xfrm>
            <a:off x="6492240" y="178308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achado-1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195453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180136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21 pedidos sem data de envio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7406640" y="2532888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Ausência de registro não prova que o pedido não saiu. O nulo foi mantido, nunca trocado por zero.</a:t>
            </a:r>
            <a:endParaRPr lang="en-US" sz="1500" dirty="0"/>
          </a:p>
        </p:txBody>
      </p:sp>
      <p:sp>
        <p:nvSpPr>
          <p:cNvPr id="13" name="achado-2"/>
          <p:cNvSpPr/>
          <p:nvPr/>
        </p:nvSpPr>
        <p:spPr>
          <a:xfrm>
            <a:off x="548640" y="388620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achado-2-circulo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achado-2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433197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37360" y="417880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 arredondamento muda o total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1737360" y="4910328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Arredondar cada item antes de somar acrescenta 0,25. Decisão: calcular com decimais exatos e arredondar só no final.</a:t>
            </a:r>
            <a:endParaRPr lang="en-US" sz="1500" dirty="0"/>
          </a:p>
        </p:txBody>
      </p:sp>
      <p:sp>
        <p:nvSpPr>
          <p:cNvPr id="18" name="achado-3"/>
          <p:cNvSpPr/>
          <p:nvPr/>
        </p:nvSpPr>
        <p:spPr>
          <a:xfrm>
            <a:off x="6217920" y="388620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achado-3-circulo"/>
          <p:cNvSpPr/>
          <p:nvPr/>
        </p:nvSpPr>
        <p:spPr>
          <a:xfrm>
            <a:off x="6492240" y="41605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achado-3-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690" y="433197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417880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662 itens com preço diferente do catálogo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4910328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preço é da venda, não do produto. Por isso ele precisa ficar guardado no pedido.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pedido, duas formas de guardar</a:t>
            </a:r>
            <a:endParaRPr lang="en-US" sz="3200" dirty="0"/>
          </a:p>
        </p:txBody>
      </p:sp>
      <p:sp>
        <p:nvSpPr>
          <p:cNvPr id="3" name="pg-card"/>
          <p:cNvSpPr/>
          <p:nvPr/>
        </p:nvSpPr>
        <p:spPr>
          <a:xfrm>
            <a:off x="548640" y="1463040"/>
            <a:ext cx="539496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g-circulo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pg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059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91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PostgreSQL: tabelas ligadas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orders — 1 linha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74320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3"/>
                          </a:solidFill>
                        </a:rPr>
                        <a:t>order_id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3"/>
                          </a:solidFill>
                        </a:rPr>
                        <a:t>customer_id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3"/>
                          </a:solidFill>
                        </a:rPr>
                        <a:t>order_date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</a:rPr>
                        <a:t>10248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</a:rPr>
                        <a:t>VINET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</a:rPr>
                        <a:t>1996-07-04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77240" y="3520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order_items — 3 linhas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84048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3"/>
                          </a:solidFill>
                        </a:rPr>
                        <a:t>product_id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3"/>
                          </a:solidFill>
                        </a:rPr>
                        <a:t>unit_price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3"/>
                          </a:solidFill>
                        </a:rPr>
                        <a:t>quantity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</a:rPr>
                        <a:t>14,00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</a:rPr>
                        <a:t>42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</a:rPr>
                        <a:t>9,80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</a:rPr>
                        <a:t>72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</a:rPr>
                        <a:t>34,80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777240" y="51663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Regras garantidas pelo banco: 11 chaves estrangeiras, 17 CHECK, 4 UNIQUE.</a:t>
            </a:r>
            <a:endParaRPr lang="en-US" sz="1400" dirty="0"/>
          </a:p>
        </p:txBody>
      </p:sp>
      <p:sp>
        <p:nvSpPr>
          <p:cNvPr id="12" name="mongo-card"/>
          <p:cNvSpPr/>
          <p:nvPr/>
        </p:nvSpPr>
        <p:spPr>
          <a:xfrm>
            <a:off x="6263640" y="1463040"/>
            <a:ext cx="539496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mongo-circulo"/>
          <p:cNvSpPr/>
          <p:nvPr/>
        </p:nvSpPr>
        <p:spPr>
          <a:xfrm>
            <a:off x="6492240" y="164592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4" name="mongo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260" y="180594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269480" y="1691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MongoDB: um documento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6492240" y="2423160"/>
            <a:ext cx="4937760" cy="2606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_id: 10248,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customer_id: "VINET",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order_date: ISODate("1996-07-04"),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product: { _id: 11, name: "Queso Cabrales"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unit_price: Decimal128("14.00"),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quantity: 12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product: { _id: 42, ... }, ...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product: { _id: 72, ... }, ...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 }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6492240" y="51663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Os itens moram dentro do pedido. Clientes e produtos continuam em coleções próprias.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fluxo de mão única</a:t>
            </a:r>
            <a:endParaRPr lang="en-US" sz="3200" dirty="0"/>
          </a:p>
        </p:txBody>
      </p:sp>
      <p:sp>
        <p:nvSpPr>
          <p:cNvPr id="3" name="fluxo-0"/>
          <p:cNvSpPr/>
          <p:nvPr/>
        </p:nvSpPr>
        <p:spPr>
          <a:xfrm>
            <a:off x="548640" y="1737360"/>
            <a:ext cx="347472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public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base original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preservada sem alterações</a:t>
            </a:r>
            <a:endParaRPr lang="en-US" sz="1300" dirty="0"/>
          </a:p>
        </p:txBody>
      </p:sp>
      <p:sp>
        <p:nvSpPr>
          <p:cNvPr id="7" name="fluxo-1"/>
          <p:cNvSpPr/>
          <p:nvPr/>
        </p:nvSpPr>
        <p:spPr>
          <a:xfrm>
            <a:off x="4343400" y="1737360"/>
            <a:ext cx="3474720" cy="182880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PostgreSQL — nw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fonte da verdade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regras de integridade no banco</a:t>
            </a:r>
            <a:endParaRPr lang="en-US" sz="1300" dirty="0"/>
          </a:p>
        </p:txBody>
      </p:sp>
      <p:sp>
        <p:nvSpPr>
          <p:cNvPr id="11" name="fluxo-2"/>
          <p:cNvSpPr/>
          <p:nvPr/>
        </p:nvSpPr>
        <p:spPr>
          <a:xfrm>
            <a:off x="8138160" y="1737360"/>
            <a:ext cx="3474720" cy="182880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676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MongoDB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cópia para leitura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9 coleções · 1.107 documentos</a:t>
            </a:r>
            <a:endParaRPr lang="en-US" sz="1300" dirty="0"/>
          </a:p>
        </p:txBody>
      </p:sp>
      <p:pic>
        <p:nvPicPr>
          <p:cNvPr id="15" name="seta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1648" y="2487168"/>
            <a:ext cx="292608" cy="292608"/>
          </a:xfrm>
          <a:prstGeom prst="rect">
            <a:avLst/>
          </a:prstGeom>
        </p:spPr>
      </p:pic>
      <p:pic>
        <p:nvPicPr>
          <p:cNvPr id="16" name="seta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8" y="248716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343400" y="370332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extração em SQL + carga com mongosh, em lote</a:t>
            </a:r>
            <a:endParaRPr lang="en-US" sz="1400" dirty="0"/>
          </a:p>
        </p:txBody>
      </p:sp>
      <p:sp>
        <p:nvSpPr>
          <p:cNvPr id="18" name="porque-0"/>
          <p:cNvSpPr/>
          <p:nvPr/>
        </p:nvSpPr>
        <p:spPr>
          <a:xfrm>
            <a:off x="548640" y="4343400"/>
            <a:ext cx="53949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2960" y="4526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Por que mão única?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9834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 os dois bancos aceitassem alterações, o mesmo dado teria dois donos. O MongoDB é reconstruído a partir do PostgreSQL.</a:t>
            </a:r>
            <a:endParaRPr lang="en-US" sz="1500" dirty="0"/>
          </a:p>
        </p:txBody>
      </p:sp>
      <p:sp>
        <p:nvSpPr>
          <p:cNvPr id="21" name="porque-1"/>
          <p:cNvSpPr/>
          <p:nvPr/>
        </p:nvSpPr>
        <p:spPr>
          <a:xfrm>
            <a:off x="6217920" y="4343400"/>
            <a:ext cx="53949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92240" y="4526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Por que em lote?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6492240" y="49834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Nenhuma das perguntas de negócio precisa de dados atualizados ao segundo. A carga pode ser repetida sem duplicar nada.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provar que nada se perdeu</a:t>
            </a:r>
            <a:endParaRPr lang="en-US" sz="3200" dirty="0"/>
          </a:p>
        </p:txBody>
      </p:sp>
      <p:sp>
        <p:nvSpPr>
          <p:cNvPr id="3" name="prova-0"/>
          <p:cNvSpPr/>
          <p:nvPr/>
        </p:nvSpPr>
        <p:spPr>
          <a:xfrm>
            <a:off x="548640" y="16002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3.311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linhas reconstruídas a partir do MongoDB e comparadas campo a campo com o PostgreSQL</a:t>
            </a:r>
            <a:endParaRPr lang="en-US" sz="1500" dirty="0"/>
          </a:p>
        </p:txBody>
      </p:sp>
      <p:sp>
        <p:nvSpPr>
          <p:cNvPr id="6" name="prova-1"/>
          <p:cNvSpPr/>
          <p:nvPr/>
        </p:nvSpPr>
        <p:spPr>
          <a:xfrm>
            <a:off x="3337560" y="16002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783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8346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diferenças, inclusive em preços, datas e endereços</a:t>
            </a:r>
            <a:endParaRPr lang="en-US" sz="1500" dirty="0"/>
          </a:p>
        </p:txBody>
      </p:sp>
      <p:sp>
        <p:nvSpPr>
          <p:cNvPr id="9" name="prova-2"/>
          <p:cNvSpPr/>
          <p:nvPr/>
        </p:nvSpPr>
        <p:spPr>
          <a:xfrm>
            <a:off x="6126480" y="16002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783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1.265.793,04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8346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mesmo total exato nos dois bancos</a:t>
            </a:r>
            <a:endParaRPr lang="en-US" sz="1500" dirty="0"/>
          </a:p>
        </p:txBody>
      </p:sp>
      <p:sp>
        <p:nvSpPr>
          <p:cNvPr id="12" name="prova-3"/>
          <p:cNvSpPr/>
          <p:nvPr/>
        </p:nvSpPr>
        <p:spPr>
          <a:xfrm>
            <a:off x="8915400" y="16002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98280" y="1783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de 5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8346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documentos inválidos recusados pelos validadores</a:t>
            </a:r>
            <a:endParaRPr lang="en-US" sz="1500" dirty="0"/>
          </a:p>
        </p:txBody>
      </p:sp>
      <p:sp>
        <p:nvSpPr>
          <p:cNvPr id="15" name="licao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Contar registros não basta.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Duas tabelas com o mesmo número de linhas podem ter preços diferentes. Por isso o caminho foi o inverso: desmontar os documentos e comparar linha a linha com a origem.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perguntas, duas implementações, três conferências</a:t>
            </a:r>
            <a:endParaRPr lang="en-US" sz="3200" dirty="0"/>
          </a:p>
        </p:txBody>
      </p:sp>
      <p:sp>
        <p:nvSpPr>
          <p:cNvPr id="3" name="tema-0-circulo"/>
          <p:cNvSpPr/>
          <p:nvPr/>
        </p:nvSpPr>
        <p:spPr>
          <a:xfrm>
            <a:off x="548640" y="146304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ema-0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57350"/>
            <a:ext cx="388620" cy="3886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481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Vendas no tempo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874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mês a mês, acumulado, variação, trimestres</a:t>
            </a:r>
            <a:endParaRPr lang="en-US" sz="1500" dirty="0"/>
          </a:p>
        </p:txBody>
      </p:sp>
      <p:sp>
        <p:nvSpPr>
          <p:cNvPr id="7" name="tema-1-circulo"/>
          <p:cNvSpPr/>
          <p:nvPr/>
        </p:nvSpPr>
        <p:spPr>
          <a:xfrm>
            <a:off x="548640" y="2578608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tema-1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772918"/>
            <a:ext cx="388620" cy="3886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5968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Produtos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9900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categorias, ranking, estoque, descontos, pares comprados juntos</a:t>
            </a:r>
            <a:endParaRPr lang="en-US" sz="1500" dirty="0"/>
          </a:p>
        </p:txBody>
      </p:sp>
      <p:sp>
        <p:nvSpPr>
          <p:cNvPr id="11" name="tema-2-circulo"/>
          <p:cNvSpPr/>
          <p:nvPr/>
        </p:nvSpPr>
        <p:spPr>
          <a:xfrm>
            <a:off x="548640" y="3694176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tema-2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888486"/>
            <a:ext cx="388620" cy="3886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7124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Clientes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1056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curva ABC, RFM, clientes inativos</a:t>
            </a:r>
            <a:endParaRPr lang="en-US" sz="1500" dirty="0"/>
          </a:p>
        </p:txBody>
      </p:sp>
      <p:sp>
        <p:nvSpPr>
          <p:cNvPr id="15" name="tema-3-circulo"/>
          <p:cNvSpPr/>
          <p:nvPr/>
        </p:nvSpPr>
        <p:spPr>
          <a:xfrm>
            <a:off x="548640" y="4809744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tema-3-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5004054"/>
            <a:ext cx="388620" cy="3886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48280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Equipe e operação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52212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vendedores, hierarquia, transportadoras</a:t>
            </a:r>
            <a:endParaRPr lang="en-US" sz="1500" dirty="0"/>
          </a:p>
        </p:txBody>
      </p:sp>
      <p:sp>
        <p:nvSpPr>
          <p:cNvPr id="19" name="conferencia"/>
          <p:cNvSpPr/>
          <p:nvPr/>
        </p:nvSpPr>
        <p:spPr>
          <a:xfrm>
            <a:off x="6400800" y="1463040"/>
            <a:ext cx="521208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675120" y="1645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Cada resposta foi conferida três vezes</a:t>
            </a:r>
            <a:endParaRPr lang="en-US" sz="1800" dirty="0"/>
          </a:p>
        </p:txBody>
      </p:sp>
      <p:sp>
        <p:nvSpPr>
          <p:cNvPr id="21" name="via-0"/>
          <p:cNvSpPr/>
          <p:nvPr/>
        </p:nvSpPr>
        <p:spPr>
          <a:xfrm>
            <a:off x="6675120" y="2286000"/>
            <a:ext cx="466344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858000" y="22860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SQL (QNN.sql)</a:t>
            </a:r>
            <a:endParaRPr lang="en-US" sz="1600" dirty="0"/>
          </a:p>
        </p:txBody>
      </p:sp>
      <p:sp>
        <p:nvSpPr>
          <p:cNvPr id="23" name="via-1"/>
          <p:cNvSpPr/>
          <p:nvPr/>
        </p:nvSpPr>
        <p:spPr>
          <a:xfrm>
            <a:off x="6675120" y="3063240"/>
            <a:ext cx="4663440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858000" y="30632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Pipeline MongoDB (PNN.js)</a:t>
            </a:r>
            <a:endParaRPr lang="en-US" sz="1600" dirty="0"/>
          </a:p>
        </p:txBody>
      </p:sp>
      <p:sp>
        <p:nvSpPr>
          <p:cNvPr id="25" name="via-2"/>
          <p:cNvSpPr/>
          <p:nvPr/>
        </p:nvSpPr>
        <p:spPr>
          <a:xfrm>
            <a:off x="6675120" y="3840480"/>
            <a:ext cx="4663440" cy="594360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858000" y="38404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Cálculo independente em Python</a:t>
            </a:r>
            <a:endParaRPr lang="en-US" sz="1600" dirty="0"/>
          </a:p>
        </p:txBody>
      </p:sp>
      <p:pic>
        <p:nvPicPr>
          <p:cNvPr id="27" name="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70916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269480" y="46177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Mesmos números nas 16 perguntas, além de 38 testes com resultados calculados à mão.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cálculo, duas sintaxes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4"/>
                </a:solidFill>
              </a:rPr>
              <a:t>Ranking: os cinco produtos de maior valor em cada categoria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SQL — função de janela</a:t>
            </a:r>
            <a:endParaRPr lang="en-US" sz="1800" dirty="0"/>
          </a:p>
        </p:txBody>
      </p:sp>
      <p:sp>
        <p:nvSpPr>
          <p:cNvPr id="5" name="sql"/>
          <p:cNvSpPr txBox="1"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2286" tIns="2286" rIns="2286" bIns="2286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row_number() OVER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PARTITION BY category_id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valor DESC, product_id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posicao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8745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MongoDB — $setWindowFields</a:t>
            </a:r>
            <a:endParaRPr lang="en-US" sz="1800" dirty="0"/>
          </a:p>
        </p:txBody>
      </p:sp>
      <p:sp>
        <p:nvSpPr>
          <p:cNvPr id="7" name="mongo"/>
          <p:cNvSpPr txBox="1"/>
          <p:nvPr/>
        </p:nvSpPr>
        <p:spPr>
          <a:xfrm>
            <a:off x="6217920" y="2331720"/>
            <a:ext cx="5394960" cy="21031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2286" tIns="2286" rIns="2286" bIns="2286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$setWindowFields: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partitionBy: "$category_id",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sortBy: { valor: -1, product_id: 1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output: { posicao: { $sum: 1, window: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documents: ["unbounded", "current"] } } } } }</a:t>
            </a:r>
            <a:endParaRPr lang="en-US" sz="1300" dirty="0"/>
          </a:p>
        </p:txBody>
      </p:sp>
      <p:sp>
        <p:nvSpPr>
          <p:cNvPr id="8" name="licao-0"/>
          <p:cNvSpPr/>
          <p:nvPr/>
        </p:nvSpPr>
        <p:spPr>
          <a:xfrm>
            <a:off x="548640" y="4709160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8463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 documento ajudou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nas perguntas sobre o pedido: os itens já estão dentro dele.</a:t>
            </a:r>
            <a:endParaRPr lang="en-US" sz="1500" dirty="0"/>
          </a:p>
        </p:txBody>
      </p:sp>
      <p:sp>
        <p:nvSpPr>
          <p:cNvPr id="10" name="licao-1"/>
          <p:cNvSpPr/>
          <p:nvPr/>
        </p:nvSpPr>
        <p:spPr>
          <a:xfrm>
            <a:off x="4297680" y="4709160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48463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 SQL foi mais direto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nas perguntas que partem de um cadastro, como clientes sem compra.</a:t>
            </a:r>
            <a:endParaRPr lang="en-US" sz="1500" dirty="0"/>
          </a:p>
        </p:txBody>
      </p:sp>
      <p:sp>
        <p:nvSpPr>
          <p:cNvPr id="12" name="licao-2"/>
          <p:cNvSpPr/>
          <p:nvPr/>
        </p:nvSpPr>
        <p:spPr>
          <a:xfrm>
            <a:off x="8046720" y="4709160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48463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As junções não sumiram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MongoDB: viraram $lookup e $graphLookup.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vendas cresceram até a base terminar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ico"/>
          <p:cNvSpPr/>
          <p:nvPr/>
        </p:nvSpPr>
        <p:spPr>
          <a:xfrm>
            <a:off x="8412480" y="1371600"/>
            <a:ext cx="32004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41080" y="1508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123.799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2286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abril de 1998, o maior mês, com 74 pedidos (eram 33 em janeiro de 1997)</a:t>
            </a:r>
            <a:endParaRPr lang="en-US" sz="1400" dirty="0"/>
          </a:p>
        </p:txBody>
      </p:sp>
      <p:sp>
        <p:nvSpPr>
          <p:cNvPr id="7" name="maio"/>
          <p:cNvSpPr/>
          <p:nvPr/>
        </p:nvSpPr>
        <p:spPr>
          <a:xfrm>
            <a:off x="8412480" y="3749040"/>
            <a:ext cx="320040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4108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 queda de maio não é crise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4434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base termina no dia 6. Um mês incompleto parece uma queda de 85%.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Poucos clientes e produtos sustentam o negócio</a:t>
            </a:r>
            <a:endParaRPr lang="en-US" sz="3200" dirty="0"/>
          </a:p>
        </p:txBody>
      </p:sp>
      <p:sp>
        <p:nvSpPr>
          <p:cNvPr id="3" name="destaque-0"/>
          <p:cNvSpPr/>
          <p:nvPr/>
        </p:nvSpPr>
        <p:spPr>
          <a:xfrm>
            <a:off x="54864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clientes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concentram 80% do valor (classe A, entre 89 clientes com compras)</a:t>
            </a:r>
            <a:endParaRPr lang="en-US" sz="1500" dirty="0"/>
          </a:p>
        </p:txBody>
      </p:sp>
      <p:sp>
        <p:nvSpPr>
          <p:cNvPr id="7" name="destaque-1"/>
          <p:cNvSpPr/>
          <p:nvPr/>
        </p:nvSpPr>
        <p:spPr>
          <a:xfrm>
            <a:off x="429768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6459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606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 toda a receita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0632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vem de um único produto, o Côte de Blaye, mais da metade da categoria Beverages</a:t>
            </a:r>
            <a:endParaRPr lang="en-US" sz="1500" dirty="0"/>
          </a:p>
        </p:txBody>
      </p:sp>
      <p:sp>
        <p:nvSpPr>
          <p:cNvPr id="11" name="destaque-2"/>
          <p:cNvSpPr/>
          <p:nvPr/>
        </p:nvSpPr>
        <p:spPr>
          <a:xfrm>
            <a:off x="804672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459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MEREP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606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cliente classe 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0632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não compra desde 30/10/1997: mais de seis meses antes do fim da base</a:t>
            </a:r>
            <a:endParaRPr lang="en-US" sz="1500" dirty="0"/>
          </a:p>
        </p:txBody>
      </p:sp>
      <p:sp>
        <p:nvSpPr>
          <p:cNvPr id="15" name="acao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acao-circulo"/>
          <p:cNvSpPr/>
          <p:nvPr/>
        </p:nvSpPr>
        <p:spPr>
          <a:xfrm>
            <a:off x="777240" y="512064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acao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5314950"/>
            <a:ext cx="388620" cy="38862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783080" y="50749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Cruzando duas análises: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curva ABC diz quem importa; a inatividade diz quem sumiu. A Mère Paillarde está nas duas listas, e é por ela que uma ação comercial deveria começar.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volume, o PostgreSQL foi mais rápido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azao"/>
          <p:cNvSpPr/>
          <p:nvPr/>
        </p:nvSpPr>
        <p:spPr>
          <a:xfrm>
            <a:off x="8412480" y="1371600"/>
            <a:ext cx="32004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41080" y="1508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1,8× a 15×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2286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mais lento no MongoDB, nas 16 consultas</a:t>
            </a:r>
            <a:endParaRPr lang="en-US" sz="1400" dirty="0"/>
          </a:p>
        </p:txBody>
      </p:sp>
      <p:sp>
        <p:nvSpPr>
          <p:cNvPr id="7" name="metodo"/>
          <p:cNvSpPr/>
          <p:nvPr/>
        </p:nvSpPr>
        <p:spPr>
          <a:xfrm>
            <a:off x="8412480" y="3520440"/>
            <a:ext cx="3200400" cy="25146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4108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Como foi medido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411480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5 aquecimentos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20 medições por consulta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ordem dos bancos alternada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mediana, não média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da diferença era índice</a:t>
            </a:r>
            <a:endParaRPr lang="en-US" sz="3200" dirty="0"/>
          </a:p>
        </p:txBody>
      </p:sp>
      <p:sp>
        <p:nvSpPr>
          <p:cNvPr id="3" name="antes"/>
          <p:cNvSpPr/>
          <p:nvPr/>
        </p:nvSpPr>
        <p:spPr>
          <a:xfrm>
            <a:off x="548640" y="1463040"/>
            <a:ext cx="53949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Sem índice em employee_id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7.470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documentos lidos para calcular as vendas dos 9 vendedores (830 pedidos × 9)</a:t>
            </a:r>
            <a:endParaRPr lang="en-US" sz="1500" dirty="0"/>
          </a:p>
        </p:txBody>
      </p:sp>
      <p:sp>
        <p:nvSpPr>
          <p:cNvPr id="7" name="depois"/>
          <p:cNvSpPr/>
          <p:nvPr/>
        </p:nvSpPr>
        <p:spPr>
          <a:xfrm>
            <a:off x="6263640" y="1463040"/>
            <a:ext cx="53949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 o índice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488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830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200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documentos lidos; tempo de 3,9 para 2,9 ms (−27%)</a:t>
            </a:r>
            <a:endParaRPr lang="en-US" sz="1500" dirty="0"/>
          </a:p>
        </p:txBody>
      </p:sp>
      <p:sp>
        <p:nvSpPr>
          <p:cNvPr id="11" name="conclusao-idx"/>
          <p:cNvSpPr/>
          <p:nvPr/>
        </p:nvSpPr>
        <p:spPr>
          <a:xfrm>
            <a:off x="548640" y="4480560"/>
            <a:ext cx="1106424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idx-circulo"/>
          <p:cNvSpPr/>
          <p:nvPr/>
        </p:nvSpPr>
        <p:spPr>
          <a:xfrm>
            <a:off x="822960" y="484632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dx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5040630"/>
            <a:ext cx="388620" cy="3886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828800" y="457200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Mesmo com os índices, o PostgreSQL seguiu 1,9 a 4,3 vezes mais rápido.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resto vem do modelo: um $lookup para cada cadastro contra uma única junção no SQL. Índice é manutenção contínua nos dois bancos.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Então, qual escolher?</a:t>
            </a:r>
            <a:endParaRPr lang="en-US" sz="3200" dirty="0"/>
          </a:p>
        </p:txBody>
      </p:sp>
      <p:sp>
        <p:nvSpPr>
          <p:cNvPr id="3" name="decisao-0"/>
          <p:cNvSpPr/>
          <p:nvPr/>
        </p:nvSpPr>
        <p:spPr>
          <a:xfrm>
            <a:off x="548640" y="1417320"/>
            <a:ext cx="3520440" cy="37947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ecisao-0-circulo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decisao-0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276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PostgreSQL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0299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para registrar e cruzar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regras garantidas pelo banco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muitas entidades relacionadas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perguntas novas a cada dia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cadastros que mudam</a:t>
            </a:r>
            <a:endParaRPr lang="en-US" sz="1500" dirty="0"/>
          </a:p>
        </p:txBody>
      </p:sp>
      <p:sp>
        <p:nvSpPr>
          <p:cNvPr id="9" name="decisao-1"/>
          <p:cNvSpPr/>
          <p:nvPr/>
        </p:nvSpPr>
        <p:spPr>
          <a:xfrm>
            <a:off x="4297680" y="1417320"/>
            <a:ext cx="3520440" cy="37947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ecisao-1-circulo"/>
          <p:cNvSpPr/>
          <p:nvPr/>
        </p:nvSpPr>
        <p:spPr>
          <a:xfrm>
            <a:off x="4572000" y="160020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decisao-1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83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16276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MongoDB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5440680" y="20299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para ler o agregado inteiro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6517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tela que mostra o pedido completo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atributos que variam por registro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crescer distribuindo dados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poucas junções por consulta</a:t>
            </a:r>
            <a:endParaRPr lang="en-US" sz="1500" dirty="0"/>
          </a:p>
        </p:txBody>
      </p:sp>
      <p:sp>
        <p:nvSpPr>
          <p:cNvPr id="15" name="decisao-2"/>
          <p:cNvSpPr/>
          <p:nvPr/>
        </p:nvSpPr>
        <p:spPr>
          <a:xfrm>
            <a:off x="8046720" y="1417320"/>
            <a:ext cx="3520440" cy="37947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decisao-2-circulo"/>
          <p:cNvSpPr/>
          <p:nvPr/>
        </p:nvSpPr>
        <p:spPr>
          <a:xfrm>
            <a:off x="8321040" y="160020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decisao-2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830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89720" y="16276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Os dois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9189720" y="20299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quando os dois padrões convivem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6517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relacional registra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documental serve a leitura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custo: carga, cópias e dois bancos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arquitetura deste projeto</a:t>
            </a:r>
            <a:endParaRPr lang="en-US" sz="1500" dirty="0"/>
          </a:p>
        </p:txBody>
      </p:sp>
      <p:sp>
        <p:nvSpPr>
          <p:cNvPr id="21" name="recomendacao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Para a Northwind: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PostgreSQL sozinho atende. O MongoDB passa a valer se surgir, por exemplo, um portal com muitos clientes consultando pedidos.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Pensando em crescer e manter</a:t>
            </a:r>
            <a:endParaRPr lang="en-US" sz="3200" dirty="0"/>
          </a:p>
        </p:txBody>
      </p:sp>
      <p:sp>
        <p:nvSpPr>
          <p:cNvPr id="3" name="escala-0-circulo"/>
          <p:cNvSpPr/>
          <p:nvPr/>
        </p:nvSpPr>
        <p:spPr>
          <a:xfrm>
            <a:off x="548640" y="150876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escala-0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49047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Escalar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3931920" y="1444752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PostgreSQL cresce com servidor maior, réplicas de leitura e particionamento por data. MongoDB cresce distribuindo coleções entre servidores, mas junções entre servidores ficam caras.</a:t>
            </a:r>
            <a:endParaRPr lang="en-US" sz="1500" dirty="0"/>
          </a:p>
        </p:txBody>
      </p:sp>
      <p:sp>
        <p:nvSpPr>
          <p:cNvPr id="7" name="escala-1-circulo"/>
          <p:cNvSpPr/>
          <p:nvPr/>
        </p:nvSpPr>
        <p:spPr>
          <a:xfrm>
            <a:off x="548640" y="26974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escala-1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803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67919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Manter cópias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931920" y="2633472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MongoDB, o nome do produto está copiado em cada item vendido. Renomear um produto vira uma atualização em muitos pedidos.</a:t>
            </a:r>
            <a:endParaRPr lang="en-US" sz="1500" dirty="0"/>
          </a:p>
        </p:txBody>
      </p:sp>
      <p:sp>
        <p:nvSpPr>
          <p:cNvPr id="11" name="escala-2-circulo"/>
          <p:cNvSpPr/>
          <p:nvPr/>
        </p:nvSpPr>
        <p:spPr>
          <a:xfrm>
            <a:off x="548640" y="388620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escala-2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690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86791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Mudar a estrutura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931920" y="3822192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Acrescentar um campo é mais fácil no MongoDB, mas validadores e consultas precisam acompanhar.</a:t>
            </a:r>
            <a:endParaRPr lang="en-US" sz="1500" dirty="0"/>
          </a:p>
        </p:txBody>
      </p:sp>
      <p:sp>
        <p:nvSpPr>
          <p:cNvPr id="15" name="escala-3-circulo"/>
          <p:cNvSpPr/>
          <p:nvPr/>
        </p:nvSpPr>
        <p:spPr>
          <a:xfrm>
            <a:off x="548640" y="5074920"/>
            <a:ext cx="731520" cy="7315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6" name="escala-3-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2578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505663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Limite deste estudo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3931920" y="5010912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830 pedidos cabem em memória. Grandes volumes e acesso concorrente não foram medidos.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ferramenta certa depende do trabalho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Os dois bancos chegaram às mesmas respostas, desde que as regras fossem fixadas antes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O documento simplifica o pedido; o relacional simplifica o cruzamento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Medir, investigar o porquê e só então concluir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Obrigado!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orthwind PI">
      <a:dk1>
        <a:srgbClr val="1E2A33"/>
      </a:dk1>
      <a:lt1>
        <a:srgbClr val="FFFFFF"/>
      </a:lt1>
      <a:dk2>
        <a:srgbClr val="1B2F3E"/>
      </a:dk2>
      <a:lt2>
        <a:srgbClr val="EEF2F5"/>
      </a:lt2>
      <a:accent1>
        <a:srgbClr val="336791"/>
      </a:accent1>
      <a:accent2>
        <a:srgbClr val="3F8F41"/>
      </a:accent2>
      <a:accent3>
        <a:srgbClr val="D9822B"/>
      </a:accent3>
      <a:accent4>
        <a:srgbClr val="5B6B76"/>
      </a:accent4>
      <a:accent5>
        <a:srgbClr val="8FB3CC"/>
      </a:accent5>
      <a:accent6>
        <a:srgbClr val="C24E4E"/>
      </a:accent6>
      <a:hlink>
        <a:srgbClr val="336791"/>
      </a:hlink>
      <a:folHlink>
        <a:srgbClr val="5B6B76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 é a ferramenta certa para o trabalho?</dc:title>
  <dc:subject>PptxGenJS Presentation</dc:subject>
  <dc:creator>Giovanne Espindola</dc:creator>
  <cp:lastModifiedBy>Giovanne Espindola</cp:lastModifiedBy>
  <cp:revision>1</cp:revision>
  <dcterms:created xsi:type="dcterms:W3CDTF">2026-10-05T18:40:21Z</dcterms:created>
  <dcterms:modified xsi:type="dcterms:W3CDTF">2026-10-05T18:40:21Z</dcterms:modified>
</cp:coreProperties>
</file>